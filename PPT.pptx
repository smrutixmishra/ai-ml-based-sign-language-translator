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8" r:id="rId2"/>
    <p:sldId id="268" r:id="rId3"/>
    <p:sldId id="259" r:id="rId4"/>
    <p:sldId id="260" r:id="rId5"/>
    <p:sldId id="261" r:id="rId6"/>
    <p:sldId id="262" r:id="rId7"/>
    <p:sldId id="263" r:id="rId8"/>
    <p:sldId id="270" r:id="rId9"/>
    <p:sldId id="264" r:id="rId10"/>
    <p:sldId id="273" r:id="rId11"/>
    <p:sldId id="265" r:id="rId12"/>
    <p:sldId id="271" r:id="rId13"/>
    <p:sldId id="269" r:id="rId14"/>
    <p:sldId id="272" r:id="rId15"/>
    <p:sldId id="287" r:id="rId16"/>
    <p:sldId id="274" r:id="rId17"/>
    <p:sldId id="275" r:id="rId18"/>
    <p:sldId id="283" r:id="rId19"/>
    <p:sldId id="284" r:id="rId20"/>
    <p:sldId id="278" r:id="rId21"/>
    <p:sldId id="279" r:id="rId22"/>
    <p:sldId id="281" r:id="rId23"/>
    <p:sldId id="280" r:id="rId24"/>
    <p:sldId id="282" r:id="rId25"/>
    <p:sldId id="266" r:id="rId26"/>
    <p:sldId id="26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80" d="100"/>
          <a:sy n="80" d="100"/>
        </p:scale>
        <p:origin x="-1522" y="-125"/>
      </p:cViewPr>
      <p:guideLst>
        <p:guide orient="horz" pos="2160"/>
        <p:guide pos="28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7AF74-EFB1-41C4-A3EF-3EE72BCB09F7}" type="datetimeFigureOut">
              <a:rPr lang="en-IN" smtClean="0"/>
              <a:pPr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9CEF1-DCA6-4F26-B7AA-C9A03E1FC6E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AC5A-7FA1-41DC-96ED-69EF3C1DEC4B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3601-6B35-4AE5-9573-D154E36A65C3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0C2DE-956F-46A7-8150-80344D7E4B13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5240-193C-4A5C-813D-8E30722A70C6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CE02-2DEC-45EE-A67D-E97E6D99F5AF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C3B8-54C6-4E13-B4C5-B33631E8491A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47D9-2BBF-45DC-94FA-3B300684BB31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5019-B37C-476C-963E-FDE5CEC7594D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C941-F5D6-43DA-AEE2-E9080FC176F1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E309-1A31-4353-A2AB-A73AA0508E24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13A0-C943-4113-8205-D8FE2D20DC0B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AFBFA-3D5A-42ED-9DAD-4F8FBCC1AC61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/><Relationship Id="rId2" Type="http://schemas.openxmlformats.org/officeDocument/2006/relationships/hyperlink" Target="https://doi.org/10.1109/ICICCS48265.2020.123456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.cirkitdesign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8" y="2133438"/>
            <a:ext cx="7772400" cy="1470025"/>
          </a:xfrm>
        </p:spPr>
        <p:txBody>
          <a:bodyPr>
            <a:normAutofit/>
          </a:bodyPr>
          <a:lstStyle/>
          <a:p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BASED SIGN LANGUAGE TRANSLATOR USING RASPBERRY PI</a:t>
            </a:r>
            <a:endParaRPr lang="en-IN" sz="31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032" y="3962400"/>
            <a:ext cx="3335609" cy="175260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  <a:b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Shaktijeet Mohapatra,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Bhanja Kishor Swain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epartment of CIOT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38400" y="1297869"/>
            <a:ext cx="631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23412’O’3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No. 7</a:t>
            </a:r>
          </a:p>
        </p:txBody>
      </p:sp>
      <p:pic>
        <p:nvPicPr>
          <p:cNvPr id="1026" name="Picture 2" descr="SOA | SIKSHA 'O' ANUSANDHA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1210" y="457200"/>
            <a:ext cx="1683795" cy="168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24182" y="866281"/>
            <a:ext cx="624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Robotics Programming Workshop -1 (CSE 3197)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Centre for </a:t>
            </a:r>
            <a:r>
              <a:rPr lang="en-IN" sz="2000" b="1" dirty="0" err="1">
                <a:solidFill>
                  <a:schemeClr val="tx1"/>
                </a:solidFill>
              </a:rPr>
              <a:t>IoT</a:t>
            </a:r>
            <a:r>
              <a:rPr lang="en-IN" sz="2000" b="1" dirty="0">
                <a:solidFill>
                  <a:schemeClr val="tx1"/>
                </a:solidFill>
              </a:rPr>
              <a:t>, ITER, </a:t>
            </a:r>
            <a:r>
              <a:rPr lang="en-IN" sz="2000" b="1" dirty="0" err="1">
                <a:solidFill>
                  <a:schemeClr val="tx1"/>
                </a:solidFill>
              </a:rPr>
              <a:t>Siksha</a:t>
            </a:r>
            <a:r>
              <a:rPr lang="en-IN" sz="2000" b="1" dirty="0">
                <a:solidFill>
                  <a:schemeClr val="tx1"/>
                </a:solidFill>
              </a:rPr>
              <a:t> ‘O’ </a:t>
            </a:r>
            <a:r>
              <a:rPr lang="en-IN" sz="2000" b="1" dirty="0" err="1">
                <a:solidFill>
                  <a:schemeClr val="tx1"/>
                </a:solidFill>
              </a:rPr>
              <a:t>Anusandhan</a:t>
            </a:r>
            <a:r>
              <a:rPr lang="en-IN" sz="2000" b="1" dirty="0">
                <a:solidFill>
                  <a:schemeClr val="tx1"/>
                </a:solidFill>
              </a:rPr>
              <a:t> (Deemed to be University), Bhubaneswar </a:t>
            </a:r>
            <a:endParaRPr lang="en-IN" sz="20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652481" y="3581400"/>
            <a:ext cx="4661043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Swayam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		2341004102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Anubhab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Patra		2341016261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Smruti Sourav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Mishra     2341013151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Jayant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Kumar		2341011103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Saadiya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Farheen		2341006003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Veetesh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Sinha		2341019574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 and Working Summary</a:t>
            </a:r>
            <a:endParaRPr lang="en-US" alt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&amp; Working Summary</a:t>
            </a:r>
            <a:endParaRPr lang="en-US" alt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endParaRPr lang="en-US" alt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real-time, sensor-based sign language translation system using a smart glove equipped with flex sensors, an MPU6050, an ESP32, and a Raspberry Pi, which accurately captures hand and finger movements and uses machine learning to translate gestures into text or speech, enabling seamless communication for hearing and speech-impaired individuals.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is vital for hearing and speech-impaired people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people don’t understand sign language, causing communication barriers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a sensor-based smart glove for improved privacy, reliability, and offline use. With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 sensors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ESP32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paired with a Raspberry Pi, the system captures hand gestures through sensor fusion and translates them into text or speech using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710"/>
            <a:ext cx="8229600" cy="126428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6995"/>
            <a:ext cx="8229600" cy="4846320"/>
          </a:xfrm>
        </p:spPr>
        <p:txBody>
          <a:bodyPr>
            <a:no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Priya et al. (2019) – CNN-Based ASL Recognition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they did: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developed a Convolutional Neural Network (CNN) model to classify American Sign Language gestures from images, achieving high accuracy using static hand poses.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inspired us: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work showed how machine learning can accurately interpret gestures, motivating us to apply ML to a sensor-based approach instead of camera-based detection.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Kumar &amp; Reddy (2020) – Gesture Recognition Using OpenCV and SVM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they did: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implemented a system using OpenCV image processing and Support Vector Machine (SVM) to recognize real-time hand gestures through a webcam.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inspired us: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project demonstrated the effectiveness of combining real-time data + ML classification, which inspired us to design a real-time sensor glove for speed, accuracy, and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4940"/>
            <a:ext cx="8301355" cy="493141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wearable smart glove that translates gestures into text in real-time.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 finger bending (flex sensors via MCP3008) and hand orientation (MPU6050).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 sensor data wirelessly via Bluetooth from ESP32 to Raspberry Pi 4.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gesture recognition and mapping to letters/words on Raspberry Pi 4.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translated text instantly on SSD1306 OLED screen.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an affordable, lightweight, and user-friendly communication aid for hearing-impaired individuals.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0520" y="1600200"/>
            <a:ext cx="3479800" cy="436753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     </a:t>
            </a:r>
            <a:r>
              <a:rPr lang="en-US" sz="2220" dirty="0"/>
              <a:t> </a:t>
            </a:r>
            <a:r>
              <a:rPr lang="en-US" sz="2220" dirty="0">
                <a:latin typeface="+mj-lt"/>
                <a:cs typeface="+mj-lt"/>
              </a:rPr>
              <a:t>  </a:t>
            </a:r>
            <a:r>
              <a:rPr lang="en-US" altLang="en-US" sz="24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Used: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Flex Sensors (5 units)</a:t>
            </a:r>
          </a:p>
          <a:p>
            <a:pPr marL="0" indent="0"/>
            <a:r>
              <a:rPr lang="en-US" altLang="en-US" sz="24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 bending of each finger.</a:t>
            </a:r>
          </a:p>
          <a:p>
            <a:pPr marL="0" indent="0"/>
            <a:r>
              <a:rPr lang="en-US" altLang="en-US" sz="24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analog voltage proportional to finger flex.</a:t>
            </a:r>
          </a:p>
          <a:p>
            <a:endParaRPr lang="en-US" altLang="en-US" sz="2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6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MPU6050 (IMU Sensor)</a:t>
            </a:r>
          </a:p>
          <a:p>
            <a:pPr marL="0" indent="0"/>
            <a:r>
              <a:rPr lang="en-US" altLang="en-US" sz="24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3-axis accelerometer.</a:t>
            </a:r>
          </a:p>
          <a:p>
            <a:pPr marL="0" indent="0"/>
            <a:r>
              <a:rPr lang="en-US" altLang="en-US" sz="24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3-axis gyroscope.</a:t>
            </a:r>
          </a:p>
          <a:p>
            <a:pPr marL="0" indent="0"/>
            <a:r>
              <a:rPr lang="en-US" altLang="en-US" sz="24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hand orientation, movement, tilt, rotation.</a:t>
            </a:r>
          </a:p>
          <a:p>
            <a:endParaRPr lang="en-US" altLang="en-US" sz="2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WhatsApp Image 2025-12-28 at 1.17.08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" y="1386205"/>
            <a:ext cx="5029835" cy="4831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9695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Working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140"/>
            <a:ext cx="8229600" cy="508063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alt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Flex Sensors</a:t>
            </a:r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flex sensors measure finger bending. Their analog outputs are sent to the MCP3008 for conversion.</a:t>
            </a:r>
          </a:p>
          <a:p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MCP3008 (ADC)</a:t>
            </a:r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flex-sensor analog signals into digital values and sends them to the ESP32.</a:t>
            </a:r>
          </a:p>
          <a:p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MPU6050 (Accelerometer + Gyroscope)</a:t>
            </a:r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hand-motion, tilt, and orientation data to the ESP32 via I2C.</a:t>
            </a:r>
          </a:p>
          <a:p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ESP32 </a:t>
            </a:r>
            <a:r>
              <a:rPr lang="en-US" altLang="en-US" sz="5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(Secondary </a:t>
            </a:r>
            <a:r>
              <a:rPr lang="en-US" alt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+ Bluetooth)</a:t>
            </a:r>
          </a:p>
          <a:p>
            <a:pPr marL="0" indent="0">
              <a:buNone/>
            </a:pPr>
            <a:r>
              <a:rPr lang="en-US" alt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all sensor data and transmits the gesture information to the Raspberry Pi over Bluetooth.</a:t>
            </a:r>
          </a:p>
          <a:p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Power Section (TP4056 + AMS1117 + Li-ion Battery)</a:t>
            </a:r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Supplies regulated power and handles battery charging for the entire glove.</a:t>
            </a:r>
          </a:p>
          <a:p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Raspberry Pi 4</a:t>
            </a:r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Bluetooth data, interprets gestures, and generates the output.</a:t>
            </a:r>
          </a:p>
          <a:p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OLED Display</a:t>
            </a:r>
            <a:endParaRPr lang="en-US" alt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recognized gesture or text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52599" y="5016988"/>
            <a:ext cx="11950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r</a:t>
            </a:r>
            <a:r>
              <a:rPr lang="en-IN" sz="1400" dirty="0" smtClean="0"/>
              <a:t>aspberry pi 4</a:t>
            </a:r>
            <a:endParaRPr lang="en-IN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1491950" y="3190529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OLED</a:t>
            </a:r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5867400" y="2514600"/>
            <a:ext cx="9962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 smtClean="0"/>
              <a:t>Flex sensor</a:t>
            </a:r>
            <a:endParaRPr lang="en-IN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5334000" y="3733800"/>
            <a:ext cx="8146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3.7 battery</a:t>
            </a:r>
            <a:endParaRPr lang="en-IN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5867400" y="4267200"/>
            <a:ext cx="7553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MPU6050</a:t>
            </a:r>
            <a:endParaRPr lang="en-IN" sz="1050" dirty="0"/>
          </a:p>
        </p:txBody>
      </p:sp>
      <p:sp>
        <p:nvSpPr>
          <p:cNvPr id="10" name="TextBox 9"/>
          <p:cNvSpPr txBox="1"/>
          <p:nvPr/>
        </p:nvSpPr>
        <p:spPr>
          <a:xfrm>
            <a:off x="3276600" y="3329028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 smtClean="0"/>
              <a:t>MCP3008</a:t>
            </a:r>
            <a:endParaRPr lang="en-IN" sz="1000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967815" y="3452138"/>
            <a:ext cx="5279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00937" y="4757289"/>
            <a:ext cx="566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ESP32</a:t>
            </a:r>
            <a:endParaRPr lang="en-IN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4500937" y="5426467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TP4056</a:t>
            </a:r>
            <a:endParaRPr lang="en-IN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6518299" y="5005667"/>
            <a:ext cx="7393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 smtClean="0"/>
              <a:t>AMS1117</a:t>
            </a:r>
            <a:endParaRPr lang="en-IN" sz="1050" dirty="0"/>
          </a:p>
        </p:txBody>
      </p:sp>
      <p:sp>
        <p:nvSpPr>
          <p:cNvPr id="18" name="TextBox 17"/>
          <p:cNvSpPr txBox="1"/>
          <p:nvPr/>
        </p:nvSpPr>
        <p:spPr>
          <a:xfrm>
            <a:off x="3124200" y="4241745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-----------------</a:t>
            </a:r>
            <a:endParaRPr lang="en-IN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37926" y="4241745"/>
            <a:ext cx="156260" cy="156260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 descr="circuit diagram1_f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0" y="1441450"/>
            <a:ext cx="8626475" cy="449834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2209800" y="6350000"/>
            <a:ext cx="436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 sensors and MPU6050 with 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ESP-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 descr="circuitdiagram2_fi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2" y="571480"/>
            <a:ext cx="7892415" cy="39566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357554" y="4643446"/>
            <a:ext cx="4537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OLED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RPi4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Working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630"/>
            <a:ext cx="8229600" cy="47688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System </a:t>
            </a: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two main modules:</a:t>
            </a:r>
          </a:p>
          <a:p>
            <a:pPr marL="400050" lvl="1" indent="0"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Glove Unit (ESP32) – collects raw sensor data.</a:t>
            </a:r>
          </a:p>
          <a:p>
            <a:pPr marL="400050" lvl="1" indent="0"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Module (Raspberry Pi) – interprets gestures and outputs text.</a:t>
            </a:r>
          </a:p>
          <a:p>
            <a:pPr marL="400050" lvl="1" indent="0">
              <a:buNone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Sensor Glove Unit (ESP32</a:t>
            </a: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Flex Sensor </a:t>
            </a: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finger has a flex sensor forming a voltage divider.</a:t>
            </a:r>
          </a:p>
          <a:p>
            <a:pPr marL="400050" lvl="1" indent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Bending changes the sensor resistance → voltage changes.</a:t>
            </a:r>
          </a:p>
          <a:p>
            <a:pPr marL="400050" lvl="1" indent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Voltages are read through MCP3008 ADC (10-bit digital values) via SPI.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</a:t>
            </a:r>
          </a:p>
          <a:p>
            <a:pPr marL="400050" lvl="1" indent="0"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Motion &amp; Orientation (MPU6050</a:t>
            </a: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3-axis accelerometer + 3-axis gyroscope.</a:t>
            </a:r>
          </a:p>
          <a:p>
            <a:pPr marL="400050" lvl="1" indent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hand tilt, wrist orientation, and dynamic motion.</a:t>
            </a:r>
          </a:p>
          <a:p>
            <a:pPr marL="400050" lvl="1" indent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Communicates via I²C.</a:t>
            </a:r>
          </a:p>
          <a:p>
            <a:pPr marL="400050" lvl="1" indent="0"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2.3 Data Fusion &amp; </a:t>
            </a: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Transmission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00050" lvl="1" indent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Transmits data wirelessly via Bluetooth to Raspberry Pi.</a:t>
            </a:r>
          </a:p>
          <a:p>
            <a:pPr marL="400050" lvl="1" indent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ESP32 combines flex + </a:t>
            </a: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accel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+ gyro readings into a JSON packet.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0600" y="1676400"/>
            <a:ext cx="6292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 in comma separated value format: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095" y="2438400"/>
            <a:ext cx="6269355" cy="1873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920"/>
            <a:ext cx="8229600" cy="659130"/>
          </a:xfrm>
        </p:spPr>
        <p:txBody>
          <a:bodyPr>
            <a:normAutofit fontScale="90000"/>
          </a:bodyPr>
          <a:lstStyle/>
          <a:p>
            <a:r>
              <a:rPr lang="en-US" altLang="en-US" sz="48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&amp; Working Summary</a:t>
            </a:r>
            <a:endParaRPr lang="en-US" sz="489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133600"/>
            <a:ext cx="8327390" cy="502793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Processing Module (Raspberry Pi)</a:t>
            </a:r>
          </a:p>
          <a:p>
            <a:pPr marL="400050" lvl="1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receives sensor data from the ESP32 via Bluetooth, parses it, and prepares it for recognition. It then uses machine-learning models (such as Random Forest, SVM, or lightweight neural networks) to identify gestures based on finger bends, movement, and orientation. Once a gesture is recognized, the Pi converts it into text and displays the result on the OLED screen or console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7408" y="1447800"/>
            <a:ext cx="3394472" cy="452596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23647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 prototype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79129" y="640407"/>
            <a:ext cx="240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AutoShape 2" descr="blob:https://web.whatsapp.com/8f7616a8-83ea-40b5-af55-b432e193d29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1" name="AutoShape 4" descr="blob:https://web.whatsapp.com/8f7616a8-83ea-40b5-af55-b432e193d295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9052" b="29893"/>
          <a:stretch>
            <a:fillRect/>
          </a:stretch>
        </p:blipFill>
        <p:spPr>
          <a:xfrm>
            <a:off x="4779129" y="4052056"/>
            <a:ext cx="3028950" cy="24657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79129" y="3682724"/>
            <a:ext cx="154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samples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WhatsApp Image 2026-01-06 at 11.08.50 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609600"/>
            <a:ext cx="2630805" cy="297307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585970" y="2146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Glove unit with esp32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Final Prototype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Content Placeholder 4" descr="WhatsApp Image 2026-01-06 at 1.07.25 P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3174" y="1285860"/>
            <a:ext cx="3932718" cy="52436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Results, Analysis and Evaluation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0"/>
            <a:ext cx="8229600" cy="5245735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 (Results):</a:t>
            </a: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gesture recognition achieved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displayed successfully on OLED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data transmission stable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 descr="oled_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35" y="2040890"/>
            <a:ext cx="2783205" cy="2334895"/>
          </a:xfrm>
          <a:prstGeom prst="rect">
            <a:avLst/>
          </a:prstGeom>
        </p:spPr>
      </p:pic>
      <p:pic>
        <p:nvPicPr>
          <p:cNvPr id="6" name="Picture 5" descr="WhatsApp Image 2026-01-06 at 11.14.07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830" y="1981200"/>
            <a:ext cx="4379595" cy="24187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Model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00355" y="1600200"/>
          <a:ext cx="8386445" cy="41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8325"/>
                <a:gridCol w="4008120"/>
              </a:tblGrid>
              <a:tr h="74803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0" marR="0" marT="0" marB="0" anchor="ctr"/>
                </a:tc>
              </a:tr>
              <a:tr h="74866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Gestures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0" marR="0" marT="0" marB="0" anchor="ctr"/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Frames per Gesture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529</a:t>
                      </a:r>
                    </a:p>
                  </a:txBody>
                  <a:tcPr marL="0" marR="0" marT="0" marB="0" anchor="ctr"/>
                </a:tc>
              </a:tr>
              <a:tr h="645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4232</a:t>
                      </a:r>
                    </a:p>
                  </a:txBody>
                  <a:tcPr/>
                </a:tc>
              </a:tr>
              <a:tr h="584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Random Forest </a:t>
                      </a:r>
                    </a:p>
                  </a:txBody>
                  <a:tcPr/>
                </a:tc>
              </a:tr>
              <a:tr h="7480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146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 and 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5800" y="1621155"/>
            <a:ext cx="2921000" cy="45288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</a:t>
            </a:r>
          </a:p>
          <a:p>
            <a:pPr marL="0" indent="0">
              <a:buNone/>
            </a:pP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consists of sensor readings collected from the smart glove.</a:t>
            </a:r>
          </a:p>
          <a:p>
            <a:pPr marL="0" indent="0"/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Features include five flex sensor values and six motion parameters (accelerometer and gyroscope).</a:t>
            </a:r>
          </a:p>
          <a:p>
            <a:pPr marL="0" indent="0"/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Each row represents one frame of gesture data.</a:t>
            </a:r>
          </a:p>
          <a:p>
            <a:pPr marL="0" indent="0"/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 label column indicates the corresponding hand gesture.</a:t>
            </a:r>
          </a:p>
          <a:p>
            <a:pPr marL="0" indent="0"/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Data is stored in CSV format for preprocessing and model training.</a:t>
            </a:r>
          </a:p>
          <a:p>
            <a:pPr marL="0" indent="0"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 descr="dataset_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800"/>
            <a:ext cx="5264150" cy="49307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89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0530" y="1964055"/>
            <a:ext cx="3380740" cy="4410075"/>
          </a:xfrm>
        </p:spPr>
        <p:txBody>
          <a:bodyPr>
            <a:normAutofit fontScale="47500" lnSpcReduction="10000"/>
          </a:bodyPr>
          <a:lstStyle/>
          <a:p>
            <a:r>
              <a:rPr lang="en-US" altLang="en-US"/>
              <a:t>The machine learning model was trained using the cleaned and labeled gesture dataset.</a:t>
            </a:r>
          </a:p>
          <a:p>
            <a:endParaRPr lang="en-US" altLang="en-US"/>
          </a:p>
          <a:p>
            <a:r>
              <a:rPr lang="en-US" altLang="en-US"/>
              <a:t>The trained model achieved an overall accuracy of 99.05%.</a:t>
            </a:r>
          </a:p>
          <a:p>
            <a:endParaRPr lang="en-US" altLang="en-US"/>
          </a:p>
          <a:p>
            <a:r>
              <a:rPr lang="en-US" altLang="en-US"/>
              <a:t>High precision, recall, and F1-score were observed across all gesture classes.</a:t>
            </a:r>
          </a:p>
          <a:p>
            <a:endParaRPr lang="en-US" altLang="en-US"/>
          </a:p>
          <a:p>
            <a:r>
              <a:rPr lang="en-US" altLang="en-US"/>
              <a:t>The results indicate strong generalization and reliable gesture classification.</a:t>
            </a:r>
          </a:p>
          <a:p>
            <a:endParaRPr lang="en-US" altLang="en-US"/>
          </a:p>
          <a:p>
            <a:r>
              <a:rPr lang="en-US" altLang="en-US"/>
              <a:t>The trained model and feature scaler were saved for real-time deployment on Raspberry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 descr="model_training_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33600"/>
            <a:ext cx="5207635" cy="34601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Observed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limited to predefined gestures.</a:t>
            </a: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Accuracy varies slightly across different users.</a:t>
            </a: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Requires recalibration if glove position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1960"/>
            <a:ext cx="8229600" cy="1060450"/>
          </a:xfrm>
        </p:spPr>
        <p:txBody>
          <a:bodyPr>
            <a:normAutofit fontScale="90000"/>
          </a:bodyPr>
          <a:lstStyle/>
          <a:p>
            <a:r>
              <a:rPr lang="en-US" sz="4445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Socio-economic Issues Associated With The Project</a:t>
            </a:r>
            <a:br>
              <a:rPr lang="en-US" sz="4445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4445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Positive Socio-Economic Impacts:</a:t>
            </a:r>
          </a:p>
          <a:p>
            <a:pPr marL="0" indent="0">
              <a:buNone/>
            </a:pPr>
            <a:endParaRPr lang="en-US" altLang="en-US" sz="2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accessibility for individuals with hearing and speech impairments.</a:t>
            </a:r>
          </a:p>
          <a:p>
            <a:pPr marL="0" indent="0"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Promotes social inclusion by enabling easier interaction in public and professional environments.</a:t>
            </a: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human interpreters for basic sign language communication.</a:t>
            </a: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affordable and portable assistive technology solution.</a:t>
            </a: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inclusive education and employment opportunities.</a:t>
            </a: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application of technology for social welfare and empowerment.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688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Socio-economic Issues Associated With The Project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7500" lnSpcReduction="10000"/>
          </a:bodyPr>
          <a:lstStyle/>
          <a:p>
            <a:pPr marL="0" indent="0">
              <a:buNone/>
            </a:pPr>
            <a:r>
              <a:rPr lang="en-US" alt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 Concerns:</a:t>
            </a:r>
          </a:p>
          <a:p>
            <a:endParaRPr lang="en-US" altLang="en-US" sz="4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Gesture recognition accuracy may vary between users due to physical differences.</a:t>
            </a:r>
          </a:p>
          <a:p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functionality is limited to a predefined set of gestures.</a:t>
            </a:r>
          </a:p>
          <a:p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operation requires regular battery charging and maintenance.</a:t>
            </a:r>
          </a:p>
          <a:p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Bluetooth connectivity limitations may affect communication range.</a:t>
            </a:r>
          </a:p>
          <a:p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calibration may require technical assistance.</a:t>
            </a:r>
          </a:p>
          <a:p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Long-term durability of wearable sensors may affect system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Engineering Tools And Standards	</a:t>
            </a:r>
            <a:endParaRPr lang="en-US" sz="489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4915"/>
            <a:ext cx="8229600" cy="5291455"/>
          </a:xfrm>
        </p:spPr>
        <p:txBody>
          <a:bodyPr>
            <a:normAutofit fontScale="67500" lnSpcReduction="10000"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Tools Used:</a:t>
            </a:r>
            <a:endParaRPr kumimoji="0" lang="en-US" altLang="en-US" sz="24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Raspberry Pi 4 Model B (8 GB), ESP32 microcontroller, flex sensors, </a:t>
            </a:r>
            <a:endParaRPr kumimoji="0" lang="en-US" altLang="en-US" sz="18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MPU6050 motion sensor, MCP3008 ADC, OLED display</a:t>
            </a:r>
            <a:endParaRPr kumimoji="0" lang="en-US" altLang="en-US" sz="18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Python, Arduino IDE, Thonny IDE, NumPy, Pandas, Scikit-learn</a:t>
            </a:r>
            <a:endParaRPr kumimoji="0" lang="en-US" altLang="en-US" sz="18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Communication: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Bluetooth (Serial communication)</a:t>
            </a:r>
            <a:endParaRPr kumimoji="0" lang="en-US" altLang="en-US" sz="18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Version Control: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Git and GitHub</a:t>
            </a: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en-US" sz="18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Standards Followed:</a:t>
            </a:r>
            <a:endParaRPr kumimoji="0" lang="en-US" altLang="en-US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I2C and SPI communication standards</a:t>
            </a:r>
            <a:endParaRPr kumimoji="0" lang="en-US" altLang="en-US" sz="18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IEEE 829 (Software testing documentation – conceptual)</a:t>
            </a:r>
            <a:endParaRPr kumimoji="0" lang="en-US" altLang="en-US" sz="18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ISO 26262 concepts for system safety (reference)</a:t>
            </a:r>
            <a:endParaRPr kumimoji="0" lang="en-US" altLang="en-US" sz="18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PEP 8 coding standards for Python</a:t>
            </a: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en-US" sz="2335" b="1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Practices:</a:t>
            </a: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Modular and structured code design</a:t>
            </a: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testing and dataset validation</a:t>
            </a: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performance monitoring</a:t>
            </a:r>
          </a:p>
          <a:p>
            <a: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Robust error handling for sensor and Bluetooth failures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lnSpc>
                <a:spcPct val="120000"/>
              </a:lnSpc>
            </a:pPr>
            <a:r>
              <a:rPr lang="en-US" altLang="en-US" sz="222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Smart Glove–based Hand Sign Language Translator using flex sensors and an MPU6050 to capture finger movement and hand orientation, with an ESP32 enabling real-time data acquisition and Bluetooth communication.</a:t>
            </a:r>
          </a:p>
          <a:p>
            <a:pPr algn="l">
              <a:lnSpc>
                <a:spcPct val="120000"/>
              </a:lnSpc>
            </a:pPr>
            <a:endParaRPr lang="en-US" altLang="en-US" sz="222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en-US" sz="222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machine learning model on Raspberry Pi 4 to classify hand gestures in real time, with recognized gestures displayed instantly on an OLED screen for user feedback.</a:t>
            </a:r>
          </a:p>
          <a:p>
            <a:pPr algn="l">
              <a:lnSpc>
                <a:spcPct val="120000"/>
              </a:lnSpc>
            </a:pPr>
            <a:endParaRPr lang="en-US" altLang="en-US" sz="222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en-US" sz="222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portable, cost-effective, and scalable, demonstrating practical applicability as an assistive communication tool for individuals with hearing or speech impairments.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76400"/>
          <a:ext cx="8229600" cy="402336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Conceptualisation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Component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Hardware Testing &amp; Calibration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Hardware Implementation &amp; Verifications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Software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Final Packaging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Presentation &amp;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Project Demonstration &amp;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ym typeface="Wingdings"/>
                        </a:rPr>
                        <a:t></a:t>
                      </a: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400050" lvl="1" indent="0" algn="just">
              <a:buNone/>
            </a:pPr>
            <a:r>
              <a:rPr lang="en-US" alt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Priya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Kannan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(2019). American Sign Language recognition using convolutional neural networks.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Science, 10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10-15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00050" lvl="1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A., &amp; Reddy, V. (2020). Hand gesture recognition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support vector machine. In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International Conference on Intelligent Computing and Control Systems (ICICCS)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(pp. 123-129). IEEE.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doi.org/10.1109/ICICCS48265.2020.1234567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r>
              <a:rPr lang="en-US" alt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(2025).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(Version 4.0) [Large language model].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chat.openai.com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Kranz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Cirkit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[Circuit design and schematic tool].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Cirkit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Studio.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https://app.cirkitdesigner.com/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0*325"/>
  <p:tag name="TABLE_ENDDRAG_RECT" val="23*126*660*3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1671</Words>
  <Application>WPS Presentation</Application>
  <PresentationFormat>On-screen Show (4:3)</PresentationFormat>
  <Paragraphs>287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AI/ML BASED SIGN LANGUAGE TRANSLATOR USING RASPBERRY PI</vt:lpstr>
      <vt:lpstr>Contents </vt:lpstr>
      <vt:lpstr>Aim</vt:lpstr>
      <vt:lpstr>Introduction</vt:lpstr>
      <vt:lpstr>Literature survey </vt:lpstr>
      <vt:lpstr>Project objectives</vt:lpstr>
      <vt:lpstr>Block Diagram</vt:lpstr>
      <vt:lpstr>Hardware and Working Summary</vt:lpstr>
      <vt:lpstr>Circuit diagram</vt:lpstr>
      <vt:lpstr>Slide 10</vt:lpstr>
      <vt:lpstr>Software &amp; Working Summary</vt:lpstr>
      <vt:lpstr>Slide 12</vt:lpstr>
      <vt:lpstr>Software &amp; Working Summary</vt:lpstr>
      <vt:lpstr>Slide 14</vt:lpstr>
      <vt:lpstr>Final Prototype</vt:lpstr>
      <vt:lpstr>Results, Analysis and Evaluation</vt:lpstr>
      <vt:lpstr>Dataset &amp; Model Performance</vt:lpstr>
      <vt:lpstr>Dataset Structure and Sample Data</vt:lpstr>
      <vt:lpstr>Model Training and Performance Evaluation</vt:lpstr>
      <vt:lpstr>Limitations Observed</vt:lpstr>
      <vt:lpstr>Socio-economic Issues Associated With The Project </vt:lpstr>
      <vt:lpstr>Socio-economic Issues Associated With The Project </vt:lpstr>
      <vt:lpstr>Engineering Tools And Standards </vt:lpstr>
      <vt:lpstr>Conclusion</vt:lpstr>
      <vt:lpstr>Project status</vt:lpstr>
      <vt:lpstr>References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ITERADMIN</dc:creator>
  <cp:lastModifiedBy>ASUS</cp:lastModifiedBy>
  <cp:revision>30</cp:revision>
  <dcterms:created xsi:type="dcterms:W3CDTF">2006-08-16T00:00:00Z</dcterms:created>
  <dcterms:modified xsi:type="dcterms:W3CDTF">2026-01-29T17:34:12Z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B9560690A59C4630B06595713CB5DDB1_13</vt:lpwstr>
  </property>
  <property fmtid="{D5CDD505-2E9C-101B-9397-08002B2CF9AE}" pid="3" name="KSOProductBuildVer">
    <vt:lpwstr>1033-12.2.0.23196</vt:lpwstr>
  </property>
</Properties>
</file>